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7" r:id="rId18"/>
    <p:sldId id="273" r:id="rId19"/>
    <p:sldId id="276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45C"/>
    <a:srgbClr val="282C34"/>
    <a:srgbClr val="60C3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CF1D67-07E3-4F6B-8E2D-635270900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8A3D135-2A71-42DC-A27C-300D97EE9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3325DF-9E46-4901-8041-1239E5619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600EFFB-3C4C-4260-8931-8D4AF0EBA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6F8C5F-C0DA-48ED-B5FA-9C39312B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7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69FDAB-2B90-4F87-8110-04663123B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528951-1ED3-4D20-8D59-E6D3617EB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8D31B2-38D1-484E-97BA-EEB9EDA67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30157E-6FB3-448C-AEBB-9AF20B194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C6EF157-DE4B-4814-859B-C7A6704C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9861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29949D-DC9E-46CB-B854-A894E82E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936F484-4A82-4397-8F17-A7416B656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234E2B-8BF4-4AF8-8638-DDE922F8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E1C3CB-5F49-4477-AC2B-B7C2EC250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ADC475-068A-4572-9255-F42AE6EB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7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8CCF4A-5579-4BB2-BD61-3C8BF60E8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374976-3D28-45BD-80A8-82D99A0AEB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90181F5-362C-4416-89B5-072E92AB9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7E444E-871E-4F21-8D30-D493B571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B9C026-80E7-4221-8DC7-1DF4E295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EDD7960-9377-4C67-90F2-4E45DC2CB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655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9AE746-4093-4C0E-B27C-009DCF74E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ADE018-B041-478C-B4F0-7C56D66DA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53FB1F4-7D11-4238-838D-CB9F83850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7C00631-87F2-452B-B48D-FCD4DBC639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15202F7-DFBC-45EA-B7DD-AE1D98FEE8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7BF8F4-A09C-416F-A5D7-67EDE459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81641D6-8C91-4985-9371-902CE8948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73025E9-8802-41DA-9461-6D8539C5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380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639BE3-0E0B-4D4B-B15B-04087670A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ED64B71-9F41-434B-86E3-6256AFDDD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222DFAC-C8AD-48F6-9A71-BFE621ECA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2E8DEB-138E-476A-AF8F-D6E240D38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746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93F1758-2DC1-4D4B-A839-25646D63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BAF3C1F-E3BE-4972-97A0-0735B172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47F3D2-20A1-449C-A269-AB549F587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83536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1FBC37-B0C4-43FD-8E2A-2F8A7B56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0AEF37-E16A-477D-8A06-675AF1264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A382081-3FF7-4331-B72C-617DE451D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6E958E6-D04F-42AE-A4C8-66E7FCE6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F6F7EAF-858C-49AC-9A67-8C2BE3847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AA0AF33-C221-4151-B3EB-F8975A45A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49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3A3D60-2C0D-4CA4-A2FF-CBA197C4C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A59626-A7B5-436E-9A04-473AF8B11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E23488-BDF0-4013-B078-D7A05C57D5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D52198-9836-4379-B0F2-CB0D0F43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E0789A-90CD-4D0A-A837-6FE0EF89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9F05D8-FDCF-4726-B672-D8BDB3210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866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E00228-846A-4E60-9EE4-4594A9BE6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722BE26-F321-4F93-84BB-DBDFAE684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8C997F-C61C-4DAC-BBE4-1AE4FB405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2A7F43-5404-43B0-A217-2A246D93F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A71A18-6FCB-405D-9D3C-C48D4E61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084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8E2F1BD-8154-4938-B037-7449808A2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9E521C-205A-448B-8981-793D30282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A07399-325C-4F33-BB66-C52D2290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337E08-95A4-46E4-B78F-29750A81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E75072-B2C9-43AD-8922-C45171C7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376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9DA074D-55FB-4BFA-94E0-2D4D73CC9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2312F41-19F9-4B4B-ABCA-AC0E5CDC5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883404-9472-4A0D-AEB2-34279EEAE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B0D47-637B-4385-95F4-4B9C2E86989C}" type="datetimeFigureOut">
              <a:rPr lang="zh-TW" altLang="en-US" smtClean="0"/>
              <a:t>2022/4/25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CAC449E-49FF-44BD-9FE6-E4A89D2F4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4D6BB5-F9E3-4DE4-9A82-7E347B52B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611203-F019-40E2-AC04-4A1CB7C3170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5924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AF884B-76DC-437B-9195-E5759FE0E9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3590030-1A72-48E7-8B48-7FAAE95FA2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F8842B-9BD1-48AA-A346-EF7F7692B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CD7FDF47-017F-40C4-880D-E65A58151990}"/>
              </a:ext>
            </a:extLst>
          </p:cNvPr>
          <p:cNvSpPr txBox="1"/>
          <p:nvPr/>
        </p:nvSpPr>
        <p:spPr>
          <a:xfrm>
            <a:off x="1925160" y="2316163"/>
            <a:ext cx="834168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6600" b="0" i="0" dirty="0">
                <a:solidFill>
                  <a:schemeClr val="bg1"/>
                </a:solidFill>
                <a:effectLst/>
                <a:latin typeface="Franklin Gothic Heavy" panose="020B0903020102020204" pitchFamily="34" charset="0"/>
              </a:rPr>
              <a:t>10397 </a:t>
            </a:r>
          </a:p>
          <a:p>
            <a:r>
              <a:rPr lang="en-US" altLang="zh-TW" sz="6600" b="0" i="0" dirty="0">
                <a:solidFill>
                  <a:schemeClr val="bg1"/>
                </a:solidFill>
                <a:effectLst/>
                <a:latin typeface="Franklin Gothic Heavy" panose="020B0903020102020204" pitchFamily="34" charset="0"/>
              </a:rPr>
              <a:t>Connect the Campus</a:t>
            </a:r>
          </a:p>
          <a:p>
            <a:pPr algn="r">
              <a:lnSpc>
                <a:spcPct val="300000"/>
              </a:lnSpc>
            </a:pPr>
            <a:r>
              <a:rPr lang="en-US" altLang="zh-TW" sz="1400" spc="600" smtClean="0">
                <a:solidFill>
                  <a:schemeClr val="bg1"/>
                </a:solidFill>
                <a:latin typeface="華康竹風體W4" panose="03000409000000000000" pitchFamily="65" charset="-120"/>
                <a:ea typeface="華康竹風體W4" panose="03000409000000000000" pitchFamily="65" charset="-120"/>
              </a:rPr>
              <a:t>11003022a</a:t>
            </a:r>
            <a:r>
              <a:rPr lang="zh-TW" altLang="en-US" sz="1400" spc="600" smtClean="0">
                <a:solidFill>
                  <a:schemeClr val="bg1"/>
                </a:solidFill>
                <a:latin typeface="華康竹風體W4" panose="03000409000000000000" pitchFamily="65" charset="-120"/>
                <a:ea typeface="華康竹風體W4" panose="03000409000000000000" pitchFamily="65" charset="-120"/>
              </a:rPr>
              <a:t> 曾廷綸</a:t>
            </a:r>
            <a:endParaRPr lang="zh-TW" altLang="en-US" sz="1400" spc="600" dirty="0">
              <a:solidFill>
                <a:schemeClr val="bg1"/>
              </a:solidFill>
              <a:latin typeface="華康竹風體W4" panose="03000409000000000000" pitchFamily="65" charset="-120"/>
              <a:ea typeface="華康竹風體W4" panose="030004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5582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0F31F4-82CE-46E8-9C33-5BE7B038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5F577D3-564E-4F56-8717-A064FB48C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6E5FEC1-1530-454E-B9E8-C291AED68254}"/>
              </a:ext>
            </a:extLst>
          </p:cNvPr>
          <p:cNvSpPr txBox="1"/>
          <p:nvPr/>
        </p:nvSpPr>
        <p:spPr>
          <a:xfrm>
            <a:off x="1065320" y="1027906"/>
            <a:ext cx="156966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5400" dirty="0">
                <a:solidFill>
                  <a:srgbClr val="04345C"/>
                </a:solidFill>
                <a:latin typeface="華康魏碑體" panose="03000709000000000000" pitchFamily="65" charset="-120"/>
                <a:ea typeface="華康魏碑體" panose="03000709000000000000" pitchFamily="65" charset="-120"/>
              </a:rPr>
              <a:t>題目</a:t>
            </a:r>
            <a:endParaRPr lang="en-US" altLang="zh-TW" sz="5400" dirty="0">
              <a:solidFill>
                <a:srgbClr val="04345C"/>
              </a:solidFill>
              <a:latin typeface="華康魏碑體" panose="03000709000000000000" pitchFamily="65" charset="-120"/>
              <a:ea typeface="華康魏碑體" panose="03000709000000000000" pitchFamily="65" charset="-120"/>
            </a:endParaRPr>
          </a:p>
          <a:p>
            <a:r>
              <a:rPr lang="zh-TW" altLang="en-US" sz="5400" dirty="0">
                <a:solidFill>
                  <a:srgbClr val="04345C"/>
                </a:solidFill>
                <a:latin typeface="華康魏碑體" panose="03000709000000000000" pitchFamily="65" charset="-120"/>
                <a:ea typeface="華康魏碑體" panose="03000709000000000000" pitchFamily="65" charset="-120"/>
              </a:rPr>
              <a:t>大意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06BBC62-9EDC-4AE9-BC62-6FF9B035EA4F}"/>
              </a:ext>
            </a:extLst>
          </p:cNvPr>
          <p:cNvSpPr txBox="1"/>
          <p:nvPr/>
        </p:nvSpPr>
        <p:spPr>
          <a:xfrm>
            <a:off x="4208016" y="686671"/>
            <a:ext cx="6918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學校要在各大樓間增設電纜，在不能改動線有電纜的條件下，希望能以最少費用安裝完成。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7667CDA-39E6-4E7B-B9B0-78101CC93750}"/>
              </a:ext>
            </a:extLst>
          </p:cNvPr>
          <p:cNvSpPr/>
          <p:nvPr/>
        </p:nvSpPr>
        <p:spPr>
          <a:xfrm>
            <a:off x="4208016" y="2020302"/>
            <a:ext cx="6918664" cy="4115515"/>
          </a:xfrm>
          <a:prstGeom prst="roundRect">
            <a:avLst>
              <a:gd name="adj" fmla="val 2646"/>
            </a:avLst>
          </a:prstGeom>
          <a:solidFill>
            <a:srgbClr val="282C34"/>
          </a:solidFill>
          <a:ln w="76200">
            <a:solidFill>
              <a:srgbClr val="04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18688C6-0723-4F3A-BA95-8758A7139022}"/>
              </a:ext>
            </a:extLst>
          </p:cNvPr>
          <p:cNvSpPr txBox="1"/>
          <p:nvPr/>
        </p:nvSpPr>
        <p:spPr>
          <a:xfrm>
            <a:off x="4260698" y="2119959"/>
            <a:ext cx="6865982" cy="3916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28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</a:t>
            </a:r>
            <a:r>
              <a:rPr lang="zh-TW" altLang="en-US" sz="28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          </a:t>
            </a:r>
            <a:r>
              <a:rPr lang="en-US" altLang="zh-TW" sz="28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/OUTPUT</a:t>
            </a: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	</a:t>
            </a:r>
            <a:r>
              <a:rPr lang="zh-TW" altLang="en-US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　　大樓數量</a:t>
            </a: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	4.41</a:t>
            </a: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103 104</a:t>
            </a:r>
            <a:r>
              <a:rPr lang="zh-TW" altLang="en-US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大樓座標</a:t>
            </a: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		</a:t>
            </a:r>
            <a:r>
              <a:rPr lang="zh-TW" altLang="en-US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還需要的電纜長</a:t>
            </a:r>
            <a:endParaRPr lang="en-US" altLang="zh-TW" sz="2000" spc="3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104 100 </a:t>
            </a: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104 103 </a:t>
            </a: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100 100 </a:t>
            </a: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 	</a:t>
            </a:r>
            <a:r>
              <a:rPr lang="zh-TW" altLang="en-US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已有電纜數量</a:t>
            </a:r>
            <a:endParaRPr lang="en-US" altLang="zh-TW" sz="2000" spc="3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lnSpc>
                <a:spcPct val="150000"/>
              </a:lnSpc>
            </a:pPr>
            <a:r>
              <a:rPr lang="en-US" altLang="zh-TW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4 2 	</a:t>
            </a:r>
            <a:r>
              <a:rPr lang="zh-TW" altLang="en-US" sz="2000" spc="300" dirty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   已連接的大樓</a:t>
            </a:r>
            <a:endParaRPr lang="en-US" altLang="zh-TW" sz="2000" spc="300" dirty="0">
              <a:solidFill>
                <a:schemeClr val="bg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300F5E5-9563-4887-9E90-A99D5BCBB460}"/>
              </a:ext>
            </a:extLst>
          </p:cNvPr>
          <p:cNvSpPr txBox="1"/>
          <p:nvPr/>
        </p:nvSpPr>
        <p:spPr>
          <a:xfrm>
            <a:off x="632165" y="3429000"/>
            <a:ext cx="2943687" cy="2536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1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＊電纜之間沒有方向性</a:t>
            </a:r>
            <a:endParaRPr lang="en-US" altLang="zh-TW" sz="1800" b="1" spc="300" dirty="0">
              <a:solidFill>
                <a:srgbClr val="04345C"/>
              </a:solidFill>
              <a:latin typeface="華康隸書體W3(P)" panose="03000300000000000000" pitchFamily="66" charset="-120"/>
              <a:ea typeface="華康隸書體W3(P)" panose="030003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＊建築物編號從１開始</a:t>
            </a:r>
            <a:endParaRPr lang="en-US" altLang="zh-TW" b="1" spc="300" dirty="0">
              <a:solidFill>
                <a:srgbClr val="04345C"/>
              </a:solidFill>
              <a:latin typeface="華康隸書體W3(P)" panose="03000300000000000000" pitchFamily="66" charset="-120"/>
              <a:ea typeface="華康隸書體W3(P)" panose="030003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＊每對建築物只需要一根電纜連接</a:t>
            </a:r>
            <a:endParaRPr lang="en-US" altLang="zh-TW" b="1" spc="300" dirty="0">
              <a:solidFill>
                <a:srgbClr val="04345C"/>
              </a:solidFill>
              <a:latin typeface="華康隸書體W3(P)" panose="03000300000000000000" pitchFamily="66" charset="-120"/>
              <a:ea typeface="華康隸書體W3(P)" panose="030003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＊沒有兩個建築物在同一個座標點</a:t>
            </a:r>
          </a:p>
        </p:txBody>
      </p:sp>
    </p:spTree>
    <p:extLst>
      <p:ext uri="{BB962C8B-B14F-4D97-AF65-F5344CB8AC3E}">
        <p14:creationId xmlns:p14="http://schemas.microsoft.com/office/powerpoint/2010/main" val="169056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841AB1D-891A-4B17-BA50-09E56DB863CF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C4329B0A-A326-4A36-9FA9-8C1425306AC3}"/>
              </a:ext>
            </a:extLst>
          </p:cNvPr>
          <p:cNvSpPr txBox="1"/>
          <p:nvPr/>
        </p:nvSpPr>
        <p:spPr>
          <a:xfrm>
            <a:off x="1826498" y="2157112"/>
            <a:ext cx="90365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新建圖，圖中擁有原圖中相同的節點，但沒有邊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在原圖中加入所有可能邊，使其成為</a:t>
            </a:r>
            <a:r>
              <a:rPr lang="en-US" altLang="zh-TW" sz="2800" b="1" spc="300" dirty="0">
                <a:solidFill>
                  <a:srgbClr val="04345C"/>
                </a:solidFill>
                <a:latin typeface="王漢宗中仿宋繁" panose="02000500000000000000" pitchFamily="2" charset="-120"/>
                <a:ea typeface="王漢宗中仿宋繁" panose="02000500000000000000" pitchFamily="2" charset="-120"/>
              </a:rPr>
              <a:t>complete graph</a:t>
            </a: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，並將原圖中所有的邊按權重從小到大排序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從權重最小的邊開始，如果這條邊連接的兩個節點於圖</a:t>
            </a:r>
            <a:r>
              <a:rPr lang="en-US" altLang="zh-TW" sz="2800" b="1" spc="300" dirty="0">
                <a:solidFill>
                  <a:srgbClr val="04345C"/>
                </a:solidFill>
                <a:latin typeface="Adobe Caslon Pro" panose="0205050205050A020403" pitchFamily="18" charset="0"/>
                <a:ea typeface="華康新綜藝體(P)" panose="040B0700000000000000" pitchFamily="82" charset="-120"/>
              </a:rPr>
              <a:t>G</a:t>
            </a: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中不在同一個連通塊中，則添加這條邊到圖</a:t>
            </a:r>
            <a:r>
              <a:rPr lang="en-US" altLang="zh-TW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G</a:t>
            </a: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中</a:t>
            </a:r>
          </a:p>
          <a:p>
            <a:pPr marL="342900" indent="-342900">
              <a:buFont typeface="+mj-lt"/>
              <a:buAutoNum type="arabicPeriod"/>
            </a:pP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重複</a:t>
            </a:r>
            <a:r>
              <a:rPr lang="en-US" altLang="zh-TW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3</a:t>
            </a: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，直至圖</a:t>
            </a:r>
            <a:r>
              <a:rPr lang="en-US" altLang="zh-TW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G</a:t>
            </a: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中所有的節點都在同一個連通分量中</a:t>
            </a:r>
            <a:endParaRPr lang="en-US" altLang="zh-TW" sz="2800" b="1" spc="300" dirty="0">
              <a:solidFill>
                <a:srgbClr val="04345C"/>
              </a:solidFill>
              <a:latin typeface="華康隸書體W3(P)" panose="03000300000000000000" pitchFamily="66" charset="-120"/>
              <a:ea typeface="華康隸書體W3(P)" panose="03000300000000000000" pitchFamily="66" charset="-120"/>
            </a:endParaRPr>
          </a:p>
          <a:p>
            <a:r>
              <a:rPr lang="en-US" altLang="zh-TW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		</a:t>
            </a:r>
            <a:r>
              <a:rPr lang="zh-TW" altLang="en-US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*連通塊：擁有不同的</a:t>
            </a:r>
            <a:r>
              <a:rPr lang="en-US" altLang="zh-TW" sz="2800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 </a:t>
            </a:r>
            <a:r>
              <a:rPr lang="en-US" altLang="zh-TW" sz="2800" b="1" spc="300" dirty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Ancestor</a:t>
            </a:r>
            <a:endParaRPr lang="zh-TW" altLang="en-US" sz="2800" b="1" spc="300" dirty="0">
              <a:solidFill>
                <a:srgbClr val="04345C"/>
              </a:solidFill>
              <a:latin typeface="華康漆隸體W5" panose="040B0509000000000000" pitchFamily="81" charset="-120"/>
              <a:ea typeface="華康漆隸體W5" panose="040B0509000000000000" pitchFamily="81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694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C4329B0A-A326-4A36-9FA9-8C1425306AC3}"/>
              </a:ext>
            </a:extLst>
          </p:cNvPr>
          <p:cNvSpPr txBox="1"/>
          <p:nvPr/>
        </p:nvSpPr>
        <p:spPr>
          <a:xfrm>
            <a:off x="8135965" y="867539"/>
            <a:ext cx="6094520" cy="1290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＊白數字為建築物編號</a:t>
            </a:r>
            <a:endParaRPr lang="en-US" altLang="zh-TW" b="1" spc="300" dirty="0">
              <a:solidFill>
                <a:srgbClr val="04345C"/>
              </a:solidFill>
              <a:latin typeface="華康隸書體W3(P)" panose="03000300000000000000" pitchFamily="66" charset="-120"/>
              <a:ea typeface="華康隸書體W3(P)" panose="030003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＊黑數字為邊長排序</a:t>
            </a:r>
            <a:endParaRPr lang="en-US" altLang="zh-TW" b="1" spc="300" dirty="0">
              <a:solidFill>
                <a:srgbClr val="04345C"/>
              </a:solidFill>
              <a:latin typeface="華康隸書體W3(P)" panose="03000300000000000000" pitchFamily="66" charset="-120"/>
              <a:ea typeface="華康隸書體W3(P)" panose="03000300000000000000" pitchFamily="66" charset="-120"/>
            </a:endParaRPr>
          </a:p>
          <a:p>
            <a:pPr>
              <a:lnSpc>
                <a:spcPct val="150000"/>
              </a:lnSpc>
            </a:pPr>
            <a:r>
              <a:rPr lang="zh-TW" altLang="en-US" b="1" spc="300" dirty="0">
                <a:solidFill>
                  <a:srgbClr val="04345C"/>
                </a:solidFill>
                <a:latin typeface="華康隸書體W3(P)" panose="03000300000000000000" pitchFamily="66" charset="-120"/>
                <a:ea typeface="華康隸書體W3(P)" panose="03000300000000000000" pitchFamily="66" charset="-120"/>
              </a:rPr>
              <a:t>（由短至長）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7355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638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35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92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369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92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195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923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12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920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001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264043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4145446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253887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397325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5204771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254039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338739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3278009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4134365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2913875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4783021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5578254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5578254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4610829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3176447"/>
            <a:ext cx="879395" cy="9061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2912355"/>
            <a:ext cx="2101910" cy="152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3287358"/>
            <a:ext cx="331832" cy="858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4783021"/>
            <a:ext cx="1001144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33873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268990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4926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440795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3517927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236518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4850928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445050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341359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564110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447912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BC90BE1E-7D15-460C-BF35-B1BAEC5B49BC}"/>
              </a:ext>
            </a:extLst>
          </p:cNvPr>
          <p:cNvSpPr txBox="1"/>
          <p:nvPr/>
        </p:nvSpPr>
        <p:spPr>
          <a:xfrm>
            <a:off x="1103051" y="250340"/>
            <a:ext cx="73041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Minimum </a:t>
            </a:r>
          </a:p>
          <a:p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Spanning Tree</a:t>
            </a:r>
            <a:r>
              <a:rPr lang="zh-TW" altLang="en-US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 </a:t>
            </a:r>
            <a:r>
              <a:rPr lang="en-US" altLang="zh-TW" sz="4800" dirty="0">
                <a:solidFill>
                  <a:srgbClr val="04345C"/>
                </a:solidFill>
                <a:latin typeface="Franklin Gothic Heavy" panose="020B0903020102020204" pitchFamily="34" charset="0"/>
              </a:rPr>
              <a:t>(greedy)</a:t>
            </a:r>
            <a:endParaRPr lang="zh-TW" altLang="en-US" sz="4800" dirty="0">
              <a:solidFill>
                <a:srgbClr val="04345C"/>
              </a:solidFill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21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9262977" y="1326540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8047326" y="3890877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6770345" y="283155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3589638" y="1224978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2182058" y="2659360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3403047" y="3890877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5241016" y="3890877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6438513" y="1226498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8026575" y="2073505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8664150" y="1964115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8400058" y="2820471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7185478" y="1599981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7407920" y="3469127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5987981" y="4264360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4150012" y="4264360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2819633" y="3296935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2819633" y="1862553"/>
            <a:ext cx="879395" cy="9061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4336603" y="1598461"/>
            <a:ext cx="2101910" cy="1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6811996" y="1973464"/>
            <a:ext cx="331832" cy="858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5878591" y="3469127"/>
            <a:ext cx="1001144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8955124" y="2073505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7592225" y="137601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4496797" y="361222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3041346" y="3094064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3268030" y="2204033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4958762" y="105129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6507935" y="3537034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7606638" y="313660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6907451" y="2099705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6634176" y="432721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8466639" y="3165229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EC33DBA-27B9-4D9B-B06D-A981FECD4730}"/>
              </a:ext>
            </a:extLst>
          </p:cNvPr>
          <p:cNvSpPr txBox="1"/>
          <p:nvPr/>
        </p:nvSpPr>
        <p:spPr>
          <a:xfrm>
            <a:off x="2118722" y="5627343"/>
            <a:ext cx="75280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4000" b="1" spc="600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1+2+3+4+5+6+8+9 = </a:t>
            </a:r>
            <a:r>
              <a:rPr lang="en-US" altLang="zh-TW" sz="4000" b="1" u="sng" spc="600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38</a:t>
            </a:r>
            <a:r>
              <a:rPr lang="en-US" altLang="zh-TW" sz="2400" b="1" u="sng" spc="600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#</a:t>
            </a:r>
            <a:endParaRPr lang="en-US" altLang="zh-TW" sz="4000" b="1" u="sng" spc="600" dirty="0">
              <a:solidFill>
                <a:srgbClr val="04345C"/>
              </a:solidFill>
              <a:latin typeface="華康文徵明體W4(P)" panose="03000400000000000000" pitchFamily="66" charset="-120"/>
              <a:ea typeface="華康文徵明體W4(P)" panose="030004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49434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圖片 34">
            <a:extLst>
              <a:ext uri="{FF2B5EF4-FFF2-40B4-BE49-F238E27FC236}">
                <a16:creationId xmlns:a16="http://schemas.microsoft.com/office/drawing/2014/main" id="{67A529FA-3081-4081-B848-1E7E3AAFA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橢圓 7">
            <a:extLst>
              <a:ext uri="{FF2B5EF4-FFF2-40B4-BE49-F238E27FC236}">
                <a16:creationId xmlns:a16="http://schemas.microsoft.com/office/drawing/2014/main" id="{10CF366F-569A-4D9A-86CD-89488CAA910F}"/>
              </a:ext>
            </a:extLst>
          </p:cNvPr>
          <p:cNvSpPr/>
          <p:nvPr/>
        </p:nvSpPr>
        <p:spPr>
          <a:xfrm>
            <a:off x="7418578" y="522977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B040DFD9-ED0F-4373-83F9-EB76E6EFDB85}"/>
              </a:ext>
            </a:extLst>
          </p:cNvPr>
          <p:cNvSpPr/>
          <p:nvPr/>
        </p:nvSpPr>
        <p:spPr>
          <a:xfrm>
            <a:off x="6202927" y="308731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630A1870-30DE-46A6-BA88-0655D9AB4F65}"/>
              </a:ext>
            </a:extLst>
          </p:cNvPr>
          <p:cNvSpPr/>
          <p:nvPr/>
        </p:nvSpPr>
        <p:spPr>
          <a:xfrm>
            <a:off x="4925946" y="2027989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048B4B5C-3579-4FA4-8A0E-F739D0D48D88}"/>
              </a:ext>
            </a:extLst>
          </p:cNvPr>
          <p:cNvSpPr/>
          <p:nvPr/>
        </p:nvSpPr>
        <p:spPr>
          <a:xfrm>
            <a:off x="1745239" y="421415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A4369A4-B96E-4E81-B27B-3AC9D73457E6}"/>
              </a:ext>
            </a:extLst>
          </p:cNvPr>
          <p:cNvSpPr/>
          <p:nvPr/>
        </p:nvSpPr>
        <p:spPr>
          <a:xfrm>
            <a:off x="337659" y="1855797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68A81821-1A2D-440F-9E2E-834C69352B9D}"/>
              </a:ext>
            </a:extLst>
          </p:cNvPr>
          <p:cNvSpPr/>
          <p:nvPr/>
        </p:nvSpPr>
        <p:spPr>
          <a:xfrm>
            <a:off x="1558648" y="308731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135ED48-9BF7-4B2D-A61F-AB2AF6625D6B}"/>
              </a:ext>
            </a:extLst>
          </p:cNvPr>
          <p:cNvSpPr/>
          <p:nvPr/>
        </p:nvSpPr>
        <p:spPr>
          <a:xfrm>
            <a:off x="3396617" y="3087314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76C8558B-6708-4118-AADB-1AFE38FC9B07}"/>
              </a:ext>
            </a:extLst>
          </p:cNvPr>
          <p:cNvSpPr/>
          <p:nvPr/>
        </p:nvSpPr>
        <p:spPr>
          <a:xfrm>
            <a:off x="4594114" y="422935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FFC2A9F-DDE1-4ADA-8E3E-B076DD376784}"/>
              </a:ext>
            </a:extLst>
          </p:cNvPr>
          <p:cNvSpPr/>
          <p:nvPr/>
        </p:nvSpPr>
        <p:spPr>
          <a:xfrm>
            <a:off x="6182176" y="1269942"/>
            <a:ext cx="746965" cy="746966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solidFill>
                  <a:schemeClr val="bg1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6015D7-9A96-428C-9152-DD0ECF2F8DF4}"/>
              </a:ext>
            </a:extLst>
          </p:cNvPr>
          <p:cNvCxnSpPr>
            <a:cxnSpLocks/>
            <a:stCxn id="16" idx="7"/>
            <a:endCxn id="8" idx="3"/>
          </p:cNvCxnSpPr>
          <p:nvPr/>
        </p:nvCxnSpPr>
        <p:spPr>
          <a:xfrm flipV="1">
            <a:off x="6819751" y="1160552"/>
            <a:ext cx="708217" cy="21878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7B5001C-3754-4C22-BB5B-040A900071A7}"/>
              </a:ext>
            </a:extLst>
          </p:cNvPr>
          <p:cNvCxnSpPr>
            <a:stCxn id="16" idx="4"/>
            <a:endCxn id="9" idx="0"/>
          </p:cNvCxnSpPr>
          <p:nvPr/>
        </p:nvCxnSpPr>
        <p:spPr>
          <a:xfrm>
            <a:off x="6555659" y="2016908"/>
            <a:ext cx="20751" cy="1070406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95A5000-CF49-4483-ADDB-85ABF8A39621}"/>
              </a:ext>
            </a:extLst>
          </p:cNvPr>
          <p:cNvCxnSpPr>
            <a:stCxn id="16" idx="1"/>
            <a:endCxn id="15" idx="6"/>
          </p:cNvCxnSpPr>
          <p:nvPr/>
        </p:nvCxnSpPr>
        <p:spPr>
          <a:xfrm flipH="1" flipV="1">
            <a:off x="5341079" y="796418"/>
            <a:ext cx="950487" cy="582915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DF09D10-0601-4684-A66A-41C254C9742B}"/>
              </a:ext>
            </a:extLst>
          </p:cNvPr>
          <p:cNvCxnSpPr>
            <a:stCxn id="9" idx="1"/>
            <a:endCxn id="10" idx="5"/>
          </p:cNvCxnSpPr>
          <p:nvPr/>
        </p:nvCxnSpPr>
        <p:spPr>
          <a:xfrm flipH="1" flipV="1">
            <a:off x="5563521" y="2665564"/>
            <a:ext cx="748796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2ACD13A6-5751-408E-8FBF-A154A82CB801}"/>
              </a:ext>
            </a:extLst>
          </p:cNvPr>
          <p:cNvCxnSpPr>
            <a:stCxn id="9" idx="2"/>
            <a:endCxn id="14" idx="6"/>
          </p:cNvCxnSpPr>
          <p:nvPr/>
        </p:nvCxnSpPr>
        <p:spPr>
          <a:xfrm flipH="1">
            <a:off x="4143582" y="3460797"/>
            <a:ext cx="2059345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E3C5D705-62E6-42B0-AA19-04CD787F6AC2}"/>
              </a:ext>
            </a:extLst>
          </p:cNvPr>
          <p:cNvCxnSpPr>
            <a:stCxn id="14" idx="2"/>
            <a:endCxn id="13" idx="6"/>
          </p:cNvCxnSpPr>
          <p:nvPr/>
        </p:nvCxnSpPr>
        <p:spPr>
          <a:xfrm flipH="1">
            <a:off x="2305613" y="3460797"/>
            <a:ext cx="1091004" cy="0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76C39EA7-3F3F-4EAC-8295-7E9E123B02B2}"/>
              </a:ext>
            </a:extLst>
          </p:cNvPr>
          <p:cNvCxnSpPr>
            <a:stCxn id="13" idx="1"/>
            <a:endCxn id="12" idx="5"/>
          </p:cNvCxnSpPr>
          <p:nvPr/>
        </p:nvCxnSpPr>
        <p:spPr>
          <a:xfrm flipH="1" flipV="1">
            <a:off x="975234" y="2493372"/>
            <a:ext cx="692804" cy="703333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131A8F12-2404-41EA-869D-B199401CA947}"/>
              </a:ext>
            </a:extLst>
          </p:cNvPr>
          <p:cNvCxnSpPr>
            <a:stCxn id="12" idx="7"/>
            <a:endCxn id="11" idx="3"/>
          </p:cNvCxnSpPr>
          <p:nvPr/>
        </p:nvCxnSpPr>
        <p:spPr>
          <a:xfrm flipV="1">
            <a:off x="975234" y="1058990"/>
            <a:ext cx="879395" cy="906198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FD71ED0-7616-4345-A110-928AD407E6B4}"/>
              </a:ext>
            </a:extLst>
          </p:cNvPr>
          <p:cNvCxnSpPr>
            <a:stCxn id="11" idx="6"/>
            <a:endCxn id="15" idx="2"/>
          </p:cNvCxnSpPr>
          <p:nvPr/>
        </p:nvCxnSpPr>
        <p:spPr>
          <a:xfrm>
            <a:off x="2492204" y="794898"/>
            <a:ext cx="2101910" cy="152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83F3D30-3CD5-4DB2-B8A9-115E8F41403A}"/>
              </a:ext>
            </a:extLst>
          </p:cNvPr>
          <p:cNvCxnSpPr>
            <a:stCxn id="15" idx="4"/>
            <a:endCxn id="10" idx="0"/>
          </p:cNvCxnSpPr>
          <p:nvPr/>
        </p:nvCxnSpPr>
        <p:spPr>
          <a:xfrm>
            <a:off x="4967597" y="1169901"/>
            <a:ext cx="331832" cy="8580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85E20E03-BA82-43D6-A0A8-237E52B8B7EB}"/>
              </a:ext>
            </a:extLst>
          </p:cNvPr>
          <p:cNvCxnSpPr>
            <a:stCxn id="14" idx="7"/>
            <a:endCxn id="10" idx="3"/>
          </p:cNvCxnSpPr>
          <p:nvPr/>
        </p:nvCxnSpPr>
        <p:spPr>
          <a:xfrm flipV="1">
            <a:off x="4034192" y="2665564"/>
            <a:ext cx="1001144" cy="531141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C0F07DC8-2EFD-4884-A403-FEB9838F2E3E}"/>
              </a:ext>
            </a:extLst>
          </p:cNvPr>
          <p:cNvSpPr txBox="1"/>
          <p:nvPr/>
        </p:nvSpPr>
        <p:spPr>
          <a:xfrm>
            <a:off x="7110725" y="1269942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chemeClr val="accent2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</a:t>
            </a: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166D5EAC-B26E-469B-A299-4F36EAD67EE9}"/>
              </a:ext>
            </a:extLst>
          </p:cNvPr>
          <p:cNvSpPr txBox="1"/>
          <p:nvPr/>
        </p:nvSpPr>
        <p:spPr>
          <a:xfrm>
            <a:off x="5747826" y="572450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４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65680C6A-3370-4E58-85F6-A9DC735BB344}"/>
              </a:ext>
            </a:extLst>
          </p:cNvPr>
          <p:cNvSpPr txBox="1"/>
          <p:nvPr/>
        </p:nvSpPr>
        <p:spPr>
          <a:xfrm>
            <a:off x="2652398" y="2808666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２</a:t>
            </a: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04244D9B-322A-4E5B-9F0C-BAA9E89EF870}"/>
              </a:ext>
            </a:extLst>
          </p:cNvPr>
          <p:cNvSpPr txBox="1"/>
          <p:nvPr/>
        </p:nvSpPr>
        <p:spPr>
          <a:xfrm>
            <a:off x="1196947" y="2290501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５</a:t>
            </a: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52C21BE9-2ADE-4D87-8E30-39F2F6533AA6}"/>
              </a:ext>
            </a:extLst>
          </p:cNvPr>
          <p:cNvSpPr txBox="1"/>
          <p:nvPr/>
        </p:nvSpPr>
        <p:spPr>
          <a:xfrm>
            <a:off x="1423631" y="1400470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９</a:t>
            </a:r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1FE96C41-8EEC-4224-A73E-02298AC67E45}"/>
              </a:ext>
            </a:extLst>
          </p:cNvPr>
          <p:cNvSpPr txBox="1"/>
          <p:nvPr/>
        </p:nvSpPr>
        <p:spPr>
          <a:xfrm>
            <a:off x="3114363" y="24773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１１</a:t>
            </a:r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100FB46-2D51-4626-BA9B-83126974C33E}"/>
              </a:ext>
            </a:extLst>
          </p:cNvPr>
          <p:cNvSpPr txBox="1"/>
          <p:nvPr/>
        </p:nvSpPr>
        <p:spPr>
          <a:xfrm>
            <a:off x="4663536" y="2733471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８</a:t>
            </a: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29A778FD-3651-4884-858C-60DB5BF87D68}"/>
              </a:ext>
            </a:extLst>
          </p:cNvPr>
          <p:cNvSpPr txBox="1"/>
          <p:nvPr/>
        </p:nvSpPr>
        <p:spPr>
          <a:xfrm>
            <a:off x="5762239" y="2333046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６</a:t>
            </a: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3BD36220-06F8-4CF8-95ED-FC796A526896}"/>
              </a:ext>
            </a:extLst>
          </p:cNvPr>
          <p:cNvSpPr txBox="1"/>
          <p:nvPr/>
        </p:nvSpPr>
        <p:spPr>
          <a:xfrm>
            <a:off x="5063052" y="1296142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７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18FB8B4-F9F0-4F68-893F-F9FEFEC12AB9}"/>
              </a:ext>
            </a:extLst>
          </p:cNvPr>
          <p:cNvSpPr txBox="1"/>
          <p:nvPr/>
        </p:nvSpPr>
        <p:spPr>
          <a:xfrm>
            <a:off x="4789777" y="352365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１０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007CB5C4-2FE1-47F5-BD59-2C49C78B3599}"/>
              </a:ext>
            </a:extLst>
          </p:cNvPr>
          <p:cNvSpPr txBox="1"/>
          <p:nvPr/>
        </p:nvSpPr>
        <p:spPr>
          <a:xfrm>
            <a:off x="6622240" y="2361666"/>
            <a:ext cx="543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800" b="1" dirty="0">
                <a:solidFill>
                  <a:srgbClr val="04345C"/>
                </a:solidFill>
                <a:latin typeface="華康文徵明體W4(P)" panose="03000400000000000000" pitchFamily="66" charset="-120"/>
                <a:ea typeface="華康文徵明體W4(P)" panose="03000400000000000000" pitchFamily="66" charset="-120"/>
              </a:rPr>
              <a:t>３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EC33DBA-27B9-4D9B-B06D-A981FECD4730}"/>
              </a:ext>
            </a:extLst>
          </p:cNvPr>
          <p:cNvSpPr txBox="1"/>
          <p:nvPr/>
        </p:nvSpPr>
        <p:spPr>
          <a:xfrm>
            <a:off x="6437087" y="2219597"/>
            <a:ext cx="5505066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u="sng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總整理</a:t>
            </a:r>
            <a:endParaRPr lang="en-US" altLang="zh-TW" b="1" u="sng" spc="600" smtClean="0">
              <a:solidFill>
                <a:srgbClr val="04345C"/>
              </a:solidFill>
              <a:latin typeface="華康漆隸體W5" panose="040B0509000000000000" pitchFamily="81" charset="-120"/>
              <a:ea typeface="華康漆隸體W5" panose="040B0509000000000000" pitchFamily="81" charset="-120"/>
            </a:endParaRP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step1: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(1-2)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step2: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(7-8)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step3: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(2-3)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step4: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(2-5)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step5: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(8-9)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step6: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(3-4)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step7: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捨棄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(4-5)(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會產生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cycle)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step8:</a:t>
            </a:r>
            <a:r>
              <a:rPr lang="zh-TW" altLang="en-US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(4-7)</a:t>
            </a:r>
            <a:endParaRPr lang="en-US" altLang="zh-TW" b="1" spc="600">
              <a:solidFill>
                <a:srgbClr val="04345C"/>
              </a:solidFill>
              <a:latin typeface="華康漆隸體W5" panose="040B0509000000000000" pitchFamily="81" charset="-120"/>
              <a:ea typeface="華康漆隸體W5" panose="040B0509000000000000" pitchFamily="81" charset="-120"/>
            </a:endParaRP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step9:</a:t>
            </a:r>
            <a:r>
              <a:rPr lang="zh-TW" altLang="en-US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選擇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(6-9)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step10:</a:t>
            </a:r>
            <a:r>
              <a:rPr lang="zh-TW" altLang="en-US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捨棄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(3-7)(</a:t>
            </a:r>
            <a:r>
              <a:rPr lang="zh-TW" altLang="en-US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會產生</a:t>
            </a:r>
            <a:r>
              <a:rPr lang="en-US" altLang="zh-TW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cycle)</a:t>
            </a:r>
          </a:p>
          <a:p>
            <a:pPr algn="ctr"/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step11:</a:t>
            </a:r>
            <a:r>
              <a:rPr lang="zh-TW" altLang="en-US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捨棄</a:t>
            </a:r>
            <a:r>
              <a:rPr lang="en-US" altLang="zh-TW" b="1" spc="600" smtClean="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(5-6)(</a:t>
            </a:r>
            <a:r>
              <a:rPr lang="zh-TW" altLang="en-US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會產生</a:t>
            </a:r>
            <a:r>
              <a:rPr lang="en-US" altLang="zh-TW" b="1" spc="600">
                <a:solidFill>
                  <a:srgbClr val="04345C"/>
                </a:solidFill>
                <a:latin typeface="華康漆隸體W5" panose="040B0509000000000000" pitchFamily="81" charset="-120"/>
                <a:ea typeface="華康漆隸體W5" panose="040B0509000000000000" pitchFamily="81" charset="-120"/>
              </a:rPr>
              <a:t>cycle)</a:t>
            </a: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spc="600">
              <a:solidFill>
                <a:srgbClr val="04345C"/>
              </a:solidFill>
              <a:latin typeface="細明體" panose="02020509000000000000" pitchFamily="49" charset="-120"/>
              <a:ea typeface="細明體" panose="02020509000000000000" pitchFamily="49" charset="-120"/>
            </a:endParaRPr>
          </a:p>
          <a:p>
            <a:pPr algn="ctr"/>
            <a:endParaRPr lang="en-US" altLang="zh-TW" sz="2800" b="1" u="sng" spc="600" dirty="0">
              <a:solidFill>
                <a:srgbClr val="04345C"/>
              </a:solidFill>
              <a:latin typeface="華康文徵明體W4(P)" panose="03000400000000000000" pitchFamily="66" charset="-120"/>
              <a:ea typeface="華康文徵明體W4(P)" panose="030004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5132498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FFC1E00-BE79-4CE3-9366-1BBCF2083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272B44E6-AD81-4CDD-BDF4-43D967FA685C}"/>
              </a:ext>
            </a:extLst>
          </p:cNvPr>
          <p:cNvSpPr/>
          <p:nvPr/>
        </p:nvSpPr>
        <p:spPr>
          <a:xfrm>
            <a:off x="816746" y="466710"/>
            <a:ext cx="10413506" cy="6022867"/>
          </a:xfrm>
          <a:prstGeom prst="roundRect">
            <a:avLst>
              <a:gd name="adj" fmla="val 2646"/>
            </a:avLst>
          </a:prstGeom>
          <a:solidFill>
            <a:srgbClr val="282C34"/>
          </a:solidFill>
          <a:ln w="76200">
            <a:solidFill>
              <a:srgbClr val="04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3CB1BD0-9040-4380-BC09-3D81AF2C6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335" y="828312"/>
            <a:ext cx="9345329" cy="5201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16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4FFC1E00-BE79-4CE3-9366-1BBCF2083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: 圓角 5">
            <a:extLst>
              <a:ext uri="{FF2B5EF4-FFF2-40B4-BE49-F238E27FC236}">
                <a16:creationId xmlns:a16="http://schemas.microsoft.com/office/drawing/2014/main" id="{272B44E6-AD81-4CDD-BDF4-43D967FA685C}"/>
              </a:ext>
            </a:extLst>
          </p:cNvPr>
          <p:cNvSpPr/>
          <p:nvPr/>
        </p:nvSpPr>
        <p:spPr>
          <a:xfrm>
            <a:off x="816746" y="466710"/>
            <a:ext cx="10413506" cy="6022867"/>
          </a:xfrm>
          <a:prstGeom prst="roundRect">
            <a:avLst>
              <a:gd name="adj" fmla="val 2646"/>
            </a:avLst>
          </a:prstGeom>
          <a:solidFill>
            <a:srgbClr val="282C34"/>
          </a:solidFill>
          <a:ln w="76200">
            <a:solidFill>
              <a:srgbClr val="0434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8A59438-7B3C-4192-A867-292506F8B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493" y="1190312"/>
            <a:ext cx="9593014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687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635</Words>
  <Application>Microsoft Office PowerPoint</Application>
  <PresentationFormat>寬螢幕</PresentationFormat>
  <Paragraphs>353</Paragraphs>
  <Slides>19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35" baseType="lpstr">
      <vt:lpstr>王漢宗中仿宋繁</vt:lpstr>
      <vt:lpstr>細明體</vt:lpstr>
      <vt:lpstr>華康文徵明體W4(P)</vt:lpstr>
      <vt:lpstr>華康竹風體W4</vt:lpstr>
      <vt:lpstr>華康新綜藝體(P)</vt:lpstr>
      <vt:lpstr>華康漆隸體W5</vt:lpstr>
      <vt:lpstr>華康隸書體W3(P)</vt:lpstr>
      <vt:lpstr>華康魏碑體</vt:lpstr>
      <vt:lpstr>新細明體</vt:lpstr>
      <vt:lpstr>標楷體</vt:lpstr>
      <vt:lpstr>Adobe Caslon Pro</vt:lpstr>
      <vt:lpstr>Arial</vt:lpstr>
      <vt:lpstr>Calibri</vt:lpstr>
      <vt:lpstr>Calibri Light</vt:lpstr>
      <vt:lpstr>Franklin Gothic Heavy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勛皓 張</dc:creator>
  <cp:lastModifiedBy>j0918</cp:lastModifiedBy>
  <cp:revision>9</cp:revision>
  <dcterms:created xsi:type="dcterms:W3CDTF">2021-11-28T21:10:17Z</dcterms:created>
  <dcterms:modified xsi:type="dcterms:W3CDTF">2022-04-25T07:30:35Z</dcterms:modified>
</cp:coreProperties>
</file>